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Bitter Medium" panose="020B0604020202020204" charset="0"/>
      <p:regular r:id="rId13"/>
    </p:embeddedFont>
    <p:embeddedFont>
      <p:font typeface="Cambria" panose="02040503050406030204" pitchFamily="18" charset="0"/>
      <p:regular r:id="rId14"/>
      <p:bold r:id="rId15"/>
      <p:italic r:id="rId16"/>
      <p:boldItalic r:id="rId17"/>
    </p:embeddedFont>
    <p:embeddedFont>
      <p:font typeface="Georgia" panose="02040502050405020303" pitchFamily="18" charset="0"/>
      <p:regular r:id="rId18"/>
      <p:bold r:id="rId19"/>
      <p:italic r:id="rId20"/>
      <p:boldItalic r:id="rId21"/>
    </p:embeddedFont>
    <p:embeddedFont>
      <p:font typeface="Open Sans" panose="020B0606030504020204" pitchFamily="34" charset="0"/>
      <p:regular r:id="rId22"/>
      <p:bold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6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3030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svg"/><Relationship Id="rId7" Type="http://schemas.openxmlformats.org/officeDocument/2006/relationships/image" Target="../media/image2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g"/><Relationship Id="rId5" Type="http://schemas.openxmlformats.org/officeDocument/2006/relationships/image" Target="../media/image19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04" y="58615"/>
            <a:ext cx="2728205" cy="503213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3092" y="715200"/>
            <a:ext cx="6295293" cy="534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C3F42"/>
                </a:solidFill>
                <a:latin typeface="Georgia" panose="02040502050405020303" pitchFamily="18" charset="0"/>
                <a:ea typeface="Bitter Medium" pitchFamily="34" charset="-122"/>
                <a:cs typeface="Bitter Medium" pitchFamily="34" charset="-120"/>
              </a:rPr>
              <a:t>Basic, Scientific &amp; Unit Calculator</a:t>
            </a:r>
            <a:endParaRPr lang="en-US" sz="2800" b="1" dirty="0">
              <a:latin typeface="Georgia" panose="02040502050405020303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69986" y="1715800"/>
            <a:ext cx="6096000" cy="2311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Developer: 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Sarthak Sandhan</a:t>
            </a:r>
          </a:p>
          <a:p>
            <a:pPr>
              <a:lnSpc>
                <a:spcPct val="133000"/>
              </a:lnSpc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Class : </a:t>
            </a:r>
            <a:r>
              <a:rPr lang="en-US" dirty="0">
                <a:latin typeface="Aptos" panose="020B0004020202020204" pitchFamily="34" charset="0"/>
              </a:rPr>
              <a:t>SY-Computer Science Engineering (Diploma) </a:t>
            </a:r>
            <a:r>
              <a:rPr lang="en-US" dirty="0" err="1">
                <a:latin typeface="Aptos" panose="020B0004020202020204" pitchFamily="34" charset="0"/>
              </a:rPr>
              <a:t>B.tech</a:t>
            </a:r>
            <a:endParaRPr lang="en-US" dirty="0">
              <a:latin typeface="Aptos" panose="020B0004020202020204" pitchFamily="34" charset="0"/>
            </a:endParaRPr>
          </a:p>
          <a:p>
            <a:pPr>
              <a:lnSpc>
                <a:spcPct val="133000"/>
              </a:lnSpc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College : </a:t>
            </a:r>
            <a:r>
              <a:rPr lang="en-US" dirty="0">
                <a:latin typeface="Aptos" panose="020B0004020202020204" pitchFamily="34" charset="0"/>
              </a:rPr>
              <a:t>Sanjivani University</a:t>
            </a:r>
          </a:p>
          <a:p>
            <a:pPr>
              <a:lnSpc>
                <a:spcPct val="133000"/>
              </a:lnSpc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Project Description : </a:t>
            </a:r>
            <a:r>
              <a:rPr lang="en-US" sz="1600" dirty="0">
                <a:latin typeface="Aptos" panose="020B0004020202020204" pitchFamily="34" charset="0"/>
              </a:rPr>
              <a:t>A Python Desktop Application for Basic, Scientific, and Unit Calculations</a:t>
            </a:r>
            <a:r>
              <a:rPr lang="en-US" sz="1600" dirty="0"/>
              <a:t>. 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140831" y="3903785"/>
            <a:ext cx="1107677" cy="426261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D2600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71933" y="4002525"/>
            <a:ext cx="90822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2600F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PYTHON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1311805" y="3904271"/>
            <a:ext cx="1107587" cy="426260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D2600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479610" y="3997040"/>
            <a:ext cx="90137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D260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</a:t>
            </a:r>
            <a:r>
              <a:rPr lang="en-US" sz="1200" dirty="0">
                <a:solidFill>
                  <a:srgbClr val="D2600F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TKINTER</a:t>
            </a:r>
          </a:p>
        </p:txBody>
      </p:sp>
      <p:sp>
        <p:nvSpPr>
          <p:cNvPr id="10" name="Shape 6"/>
          <p:cNvSpPr/>
          <p:nvPr/>
        </p:nvSpPr>
        <p:spPr>
          <a:xfrm>
            <a:off x="2499311" y="3893675"/>
            <a:ext cx="941412" cy="436855"/>
          </a:xfrm>
          <a:prstGeom prst="roundRect">
            <a:avLst>
              <a:gd name="adj" fmla="val 17880"/>
            </a:avLst>
          </a:prstGeom>
          <a:solidFill>
            <a:srgbClr val="FCE2C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2598921" y="3985146"/>
            <a:ext cx="131139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850" dirty="0">
                <a:solidFill>
                  <a:srgbClr val="D260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 </a:t>
            </a:r>
            <a:r>
              <a:rPr lang="en-US" sz="1400" dirty="0">
                <a:solidFill>
                  <a:srgbClr val="D2600F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OOP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237455"/>
            <a:ext cx="3255266" cy="443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3995458" y="743489"/>
            <a:ext cx="4861327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3000"/>
              </a:lnSpc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Users often need separate tools for basic calculations,</a:t>
            </a:r>
          </a:p>
          <a:p>
            <a:pPr>
              <a:lnSpc>
                <a:spcPct val="123000"/>
              </a:lnSpc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scientific operations, and unit conversions. This</a:t>
            </a:r>
          </a:p>
          <a:p>
            <a:pPr>
              <a:lnSpc>
                <a:spcPct val="123000"/>
              </a:lnSpc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increases time, complexity, and reduces productivity.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1554956"/>
            <a:ext cx="298996" cy="2989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925119" y="1888181"/>
            <a:ext cx="2211912" cy="268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Time Consumption</a:t>
            </a: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3925119" y="2227436"/>
            <a:ext cx="47227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 switching between apps adds friction during study and coding sessions.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605608"/>
            <a:ext cx="298996" cy="2989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925119" y="2942726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Different</a:t>
            </a:r>
            <a:r>
              <a:rPr lang="en-US" sz="11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</a:t>
            </a:r>
            <a:r>
              <a:rPr lang="en-US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Interfaces</a:t>
            </a: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3925119" y="3278088"/>
            <a:ext cx="47227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Different controls and layouts cause errors and slow learning</a:t>
            </a:r>
            <a:r>
              <a:rPr lang="en-US" sz="9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25119" y="3656261"/>
            <a:ext cx="298996" cy="29899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923065" y="3998454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Multiple Tools Required</a:t>
            </a: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3925119" y="4328740"/>
            <a:ext cx="5166127" cy="718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single desktop tool combines basic, scientific, and unit conversion needs in one reliable package.</a:t>
            </a:r>
            <a:endParaRPr lang="en-US" sz="1200" dirty="0"/>
          </a:p>
        </p:txBody>
      </p:sp>
      <p:sp>
        <p:nvSpPr>
          <p:cNvPr id="14" name="Flowchart: Terminator 13">
            <a:extLst>
              <a:ext uri="{FF2B5EF4-FFF2-40B4-BE49-F238E27FC236}">
                <a16:creationId xmlns:a16="http://schemas.microsoft.com/office/drawing/2014/main" id="{CBC317B5-ABEE-1F4A-00B2-624967CEE1F8}"/>
              </a:ext>
            </a:extLst>
          </p:cNvPr>
          <p:cNvSpPr/>
          <p:nvPr/>
        </p:nvSpPr>
        <p:spPr>
          <a:xfrm>
            <a:off x="8059614" y="4859214"/>
            <a:ext cx="1019908" cy="222739"/>
          </a:xfrm>
          <a:prstGeom prst="flowChartTerminator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5721"/>
            <a:ext cx="32925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C3F42"/>
                </a:solidFill>
                <a:latin typeface="Cambria" panose="02040503050406030204" pitchFamily="18" charset="0"/>
                <a:ea typeface="Cambria" panose="02040503050406030204" pitchFamily="18" charset="0"/>
                <a:cs typeface="Bitter Medium" pitchFamily="34" charset="-120"/>
              </a:rPr>
              <a:t>Project Overview</a:t>
            </a:r>
            <a:endParaRPr lang="en-US" sz="28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8" y="914257"/>
            <a:ext cx="8151763" cy="899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6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A Python + </a:t>
            </a:r>
            <a:r>
              <a:rPr lang="en-US" sz="1600" dirty="0" err="1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Tkinter</a:t>
            </a:r>
            <a:r>
              <a:rPr lang="en-US" sz="16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application that combines</a:t>
            </a:r>
          </a:p>
          <a:p>
            <a:pPr>
              <a:lnSpc>
                <a:spcPct val="133000"/>
              </a:lnSpc>
            </a:pPr>
            <a:r>
              <a:rPr lang="en-US" sz="16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Basic Calculator, Scientific Calculator,</a:t>
            </a:r>
          </a:p>
          <a:p>
            <a:pPr>
              <a:lnSpc>
                <a:spcPct val="133000"/>
              </a:lnSpc>
            </a:pPr>
            <a:r>
              <a:rPr lang="en-US" sz="16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and Unit Converter modules in one interface.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203352" y="2250131"/>
            <a:ext cx="166821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B2E3C"/>
                </a:solidFill>
                <a:latin typeface="Cambria" panose="02040503050406030204" pitchFamily="18" charset="0"/>
                <a:ea typeface="Cambria" panose="02040503050406030204" pitchFamily="18" charset="0"/>
                <a:cs typeface="Bitter Medium" pitchFamily="34" charset="-120"/>
              </a:rPr>
              <a:t>Scientific Calculator</a:t>
            </a:r>
            <a:endParaRPr lang="en-US" sz="135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209162" y="2514954"/>
            <a:ext cx="1668214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Trigonometry, logarithms, factorials, radians/degrees — designed for engineering coursework and quick prototyping.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7250227" y="2220478"/>
            <a:ext cx="16682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B2E3C"/>
                </a:solidFill>
                <a:latin typeface="Cambria" panose="02040503050406030204" pitchFamily="18" charset="0"/>
                <a:ea typeface="Cambria" panose="02040503050406030204" pitchFamily="18" charset="0"/>
                <a:cs typeface="Bitter Medium" pitchFamily="34" charset="-120"/>
              </a:rPr>
              <a:t>Unit Converter</a:t>
            </a:r>
            <a:endParaRPr lang="en-US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7250227" y="2475467"/>
            <a:ext cx="166821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Comprehensive categories: length, area, volume, weight, temperature, speed, pressure, power, and number systems — easy selection and accurate results.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471335" y="2220478"/>
            <a:ext cx="16682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B2E3C"/>
                </a:solidFill>
                <a:latin typeface="Cambria" panose="02040503050406030204" pitchFamily="18" charset="0"/>
                <a:ea typeface="Cambria" panose="02040503050406030204" pitchFamily="18" charset="0"/>
                <a:cs typeface="Bitter Medium" pitchFamily="34" charset="-120"/>
              </a:rPr>
              <a:t>Basic Calculator</a:t>
            </a:r>
            <a:endParaRPr lang="en-US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471335" y="2498847"/>
            <a:ext cx="166821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Essential arithmetic, percentage, backspace, and a clean numeric keypad for fast entry.</a:t>
            </a:r>
            <a:endParaRPr lang="en-US" sz="1100" dirty="0">
              <a:latin typeface="Aptos" panose="020B00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D6CD4E-F004-AA11-EC80-70FE158CF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559" y="2171295"/>
            <a:ext cx="1107077" cy="204198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CA6A402-9A48-A243-D520-1F80FE08D3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4518" y="2156238"/>
            <a:ext cx="1084433" cy="20419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B3A34ED-5E92-1223-CD2F-78D4C0E467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5967" y="2131164"/>
            <a:ext cx="1107077" cy="2082117"/>
          </a:xfrm>
          <a:prstGeom prst="rect">
            <a:avLst/>
          </a:prstGeom>
        </p:spPr>
      </p:pic>
      <p:sp>
        <p:nvSpPr>
          <p:cNvPr id="20" name="Flowchart: Terminator 19">
            <a:extLst>
              <a:ext uri="{FF2B5EF4-FFF2-40B4-BE49-F238E27FC236}">
                <a16:creationId xmlns:a16="http://schemas.microsoft.com/office/drawing/2014/main" id="{A2E27AB8-941E-3CE9-ECF8-B9FE80CF5174}"/>
              </a:ext>
            </a:extLst>
          </p:cNvPr>
          <p:cNvSpPr/>
          <p:nvPr/>
        </p:nvSpPr>
        <p:spPr>
          <a:xfrm>
            <a:off x="8059614" y="4859214"/>
            <a:ext cx="1019908" cy="222739"/>
          </a:xfrm>
          <a:prstGeom prst="flowChartTerminator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Page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84663"/>
            <a:ext cx="32925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C3F42"/>
                </a:solidFill>
                <a:latin typeface="Cambria" panose="02040503050406030204" pitchFamily="18" charset="0"/>
                <a:ea typeface="Cambria" panose="02040503050406030204" pitchFamily="18" charset="0"/>
                <a:cs typeface="Bitter Medium" pitchFamily="34" charset="-120"/>
              </a:rPr>
              <a:t>Technology Stack</a:t>
            </a:r>
            <a:endParaRPr lang="en-US" sz="28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96119" y="1653183"/>
            <a:ext cx="1931566" cy="1506810"/>
          </a:xfrm>
          <a:prstGeom prst="roundRect">
            <a:avLst>
              <a:gd name="adj" fmla="val 3952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639" y="1700772"/>
            <a:ext cx="16385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2B2E3C"/>
                </a:solidFill>
                <a:latin typeface="Cambria" panose="02040503050406030204" pitchFamily="18" charset="0"/>
                <a:ea typeface="Cambria" panose="02040503050406030204" pitchFamily="18" charset="0"/>
                <a:cs typeface="Bitter Medium" pitchFamily="34" charset="-120"/>
              </a:rPr>
              <a:t>Python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2640" y="2106216"/>
            <a:ext cx="163852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Core programming language with</a:t>
            </a:r>
          </a:p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simple syntax and extensive libraries.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569443" y="1653183"/>
            <a:ext cx="1931640" cy="1506810"/>
          </a:xfrm>
          <a:prstGeom prst="roundRect">
            <a:avLst>
              <a:gd name="adj" fmla="val 3952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15964" y="1738524"/>
            <a:ext cx="16385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2B2E3C"/>
                </a:solidFill>
                <a:latin typeface="Cambria" panose="02040503050406030204" pitchFamily="18" charset="0"/>
                <a:ea typeface="Cambria" panose="02040503050406030204" pitchFamily="18" charset="0"/>
                <a:cs typeface="Bitter Medium" pitchFamily="34" charset="-120"/>
              </a:rPr>
              <a:t>Tkinter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15964" y="2106216"/>
            <a:ext cx="163859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Built-in GUI toolkit for creating</a:t>
            </a:r>
          </a:p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desktop applications.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42842" y="1653183"/>
            <a:ext cx="1931640" cy="1506810"/>
          </a:xfrm>
          <a:prstGeom prst="roundRect">
            <a:avLst>
              <a:gd name="adj" fmla="val 3952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89363" y="1738736"/>
            <a:ext cx="16385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2B2E3C"/>
                </a:solidFill>
                <a:latin typeface="Cambria" panose="02040503050406030204" pitchFamily="18" charset="0"/>
                <a:ea typeface="Cambria" panose="02040503050406030204" pitchFamily="18" charset="0"/>
                <a:cs typeface="Bitter Medium" pitchFamily="34" charset="-120"/>
              </a:rPr>
              <a:t>JSON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89363" y="2106216"/>
            <a:ext cx="163859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Stores conversion data and</a:t>
            </a:r>
          </a:p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application configurations.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716240" y="1653183"/>
            <a:ext cx="1931641" cy="1648568"/>
          </a:xfrm>
          <a:prstGeom prst="roundRect">
            <a:avLst>
              <a:gd name="adj" fmla="val 3952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62762" y="1731504"/>
            <a:ext cx="16385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b="1" dirty="0">
                <a:solidFill>
                  <a:srgbClr val="2B2E3C"/>
                </a:solidFill>
                <a:latin typeface="Cambria" panose="02040503050406030204" pitchFamily="18" charset="0"/>
                <a:ea typeface="Cambria" panose="02040503050406030204" pitchFamily="18" charset="0"/>
                <a:cs typeface="Bitter Medium" pitchFamily="34" charset="-120"/>
              </a:rPr>
              <a:t>Math Library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862763" y="2106216"/>
            <a:ext cx="163859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Provides scientific functions such as</a:t>
            </a:r>
          </a:p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trigonometry, logarithms, and factorials.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96119" y="3301751"/>
            <a:ext cx="6078363" cy="1229217"/>
          </a:xfrm>
          <a:prstGeom prst="roundRect">
            <a:avLst>
              <a:gd name="adj" fmla="val 7205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640" y="344827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2B2E3C"/>
                </a:solidFill>
                <a:latin typeface="Cambria" panose="02040503050406030204" pitchFamily="18" charset="0"/>
                <a:ea typeface="Cambria" panose="02040503050406030204" pitchFamily="18" charset="0"/>
                <a:cs typeface="Bitter Medium" pitchFamily="34" charset="-120"/>
              </a:rPr>
              <a:t>OOP Architecture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2640" y="3754784"/>
            <a:ext cx="4146723" cy="717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Modular classes separate the GUI,</a:t>
            </a:r>
          </a:p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calculation engine, and converter logic</a:t>
            </a:r>
          </a:p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for better maintainability.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9" name="Flowchart: Terminator 18">
            <a:extLst>
              <a:ext uri="{FF2B5EF4-FFF2-40B4-BE49-F238E27FC236}">
                <a16:creationId xmlns:a16="http://schemas.microsoft.com/office/drawing/2014/main" id="{20DFF6BC-01B9-FCD9-C62A-858134AB0863}"/>
              </a:ext>
            </a:extLst>
          </p:cNvPr>
          <p:cNvSpPr/>
          <p:nvPr/>
        </p:nvSpPr>
        <p:spPr>
          <a:xfrm>
            <a:off x="8059614" y="4859214"/>
            <a:ext cx="1019908" cy="222739"/>
          </a:xfrm>
          <a:prstGeom prst="flowChartTerminator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792" y="738554"/>
            <a:ext cx="5668342" cy="32152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67999" y="2681976"/>
            <a:ext cx="1548982" cy="206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B2E3C"/>
                </a:solidFill>
                <a:latin typeface="Cambria" panose="02040503050406030204" pitchFamily="18" charset="0"/>
                <a:ea typeface="Cambria" panose="02040503050406030204" pitchFamily="18" charset="0"/>
                <a:cs typeface="Bitter Medium" pitchFamily="34" charset="-120"/>
              </a:rPr>
              <a:t>User Input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316981" y="1396451"/>
            <a:ext cx="1599305" cy="206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B2E3C"/>
                </a:solidFill>
                <a:latin typeface="Cambria" panose="02040503050406030204" pitchFamily="18" charset="0"/>
                <a:ea typeface="Cambria" panose="02040503050406030204" pitchFamily="18" charset="0"/>
                <a:cs typeface="Bitter Medium" pitchFamily="34" charset="-120"/>
              </a:rPr>
              <a:t>GUI Interface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141795" y="3186971"/>
            <a:ext cx="1548982" cy="206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B2E3C"/>
                </a:solidFill>
                <a:latin typeface="Cambria" panose="02040503050406030204" pitchFamily="18" charset="0"/>
                <a:ea typeface="Cambria" panose="02040503050406030204" pitchFamily="18" charset="0"/>
                <a:cs typeface="Bitter Medium" pitchFamily="34" charset="-120"/>
              </a:rPr>
              <a:t>Calculation Engine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648342" y="1772889"/>
            <a:ext cx="1548983" cy="206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B2E3C"/>
                </a:solidFill>
                <a:latin typeface="Cambria" panose="02040503050406030204" pitchFamily="18" charset="0"/>
                <a:ea typeface="Cambria" panose="02040503050406030204" pitchFamily="18" charset="0"/>
                <a:cs typeface="Bitter Medium" pitchFamily="34" charset="-120"/>
              </a:rPr>
              <a:t>Output Display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80293" y="3676807"/>
            <a:ext cx="7595397" cy="795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2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The architecture separates the user interface,</a:t>
            </a:r>
          </a:p>
          <a:p>
            <a:pPr>
              <a:lnSpc>
                <a:spcPct val="117000"/>
              </a:lnSpc>
            </a:pPr>
            <a:r>
              <a:rPr lang="en-US" sz="12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calculation logic, and conversion services,</a:t>
            </a:r>
          </a:p>
          <a:p>
            <a:pPr>
              <a:lnSpc>
                <a:spcPct val="117000"/>
              </a:lnSpc>
            </a:pPr>
            <a:r>
              <a:rPr lang="en-US" sz="12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making the application modular and easy to maintain.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9" name="Flowchart: Terminator 8">
            <a:extLst>
              <a:ext uri="{FF2B5EF4-FFF2-40B4-BE49-F238E27FC236}">
                <a16:creationId xmlns:a16="http://schemas.microsoft.com/office/drawing/2014/main" id="{BFBBE816-37FA-ADA1-D864-762508E04009}"/>
              </a:ext>
            </a:extLst>
          </p:cNvPr>
          <p:cNvSpPr/>
          <p:nvPr/>
        </p:nvSpPr>
        <p:spPr>
          <a:xfrm>
            <a:off x="8059614" y="4859214"/>
            <a:ext cx="1019908" cy="222739"/>
          </a:xfrm>
          <a:prstGeom prst="flowChartTerminator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Page 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291F98-3B7F-D6BF-BA9F-BBB7D9210550}"/>
              </a:ext>
            </a:extLst>
          </p:cNvPr>
          <p:cNvSpPr txBox="1"/>
          <p:nvPr/>
        </p:nvSpPr>
        <p:spPr>
          <a:xfrm>
            <a:off x="580293" y="431256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System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89123" y="1061283"/>
            <a:ext cx="4253262" cy="421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C3F42"/>
                </a:solidFill>
                <a:latin typeface="Cambria" panose="02040503050406030204" pitchFamily="18" charset="0"/>
                <a:ea typeface="Cambria" panose="02040503050406030204" pitchFamily="18" charset="0"/>
                <a:cs typeface="Bitter Medium" pitchFamily="34" charset="-120"/>
              </a:rPr>
              <a:t>Basic Calculator Features</a:t>
            </a:r>
            <a:endParaRPr lang="en-US" sz="28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536089" y="1805864"/>
            <a:ext cx="4770016" cy="1956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Core arithmetic: + − × ÷ with a large keypad and keyboard support</a:t>
            </a:r>
            <a:endParaRPr lang="en-US" sz="14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Percentage calculations and double-zero (00) entry for speed</a:t>
            </a:r>
            <a:endParaRPr lang="en-US" sz="14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Backspace / clear (AC) and error-safe input handling</a:t>
            </a:r>
            <a:endParaRPr lang="en-US" sz="1400" dirty="0">
              <a:latin typeface="Aptos" panose="020B0004020202020204" pitchFamily="34" charset="0"/>
            </a:endParaRPr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Simple and user-friendly interface for everyday calculations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740936" y="3948672"/>
            <a:ext cx="4770016" cy="629245"/>
          </a:xfrm>
          <a:prstGeom prst="roundRect">
            <a:avLst>
              <a:gd name="adj" fmla="val 8280"/>
            </a:avLst>
          </a:prstGeom>
          <a:solidFill>
            <a:srgbClr val="FAD3B8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782" y="4139321"/>
            <a:ext cx="155004" cy="1239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63015" y="4077260"/>
            <a:ext cx="4243090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Design emphasizes quick numeric entry and minimal visual clutter — ideal for classroom and interview demonstrations.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9" name="Flowchart: Terminator 8">
            <a:extLst>
              <a:ext uri="{FF2B5EF4-FFF2-40B4-BE49-F238E27FC236}">
                <a16:creationId xmlns:a16="http://schemas.microsoft.com/office/drawing/2014/main" id="{B7C1A4C1-4F57-FA59-5210-EC8C22E6AEDF}"/>
              </a:ext>
            </a:extLst>
          </p:cNvPr>
          <p:cNvSpPr/>
          <p:nvPr/>
        </p:nvSpPr>
        <p:spPr>
          <a:xfrm>
            <a:off x="8059614" y="4859214"/>
            <a:ext cx="1019908" cy="222739"/>
          </a:xfrm>
          <a:prstGeom prst="flowChartTerminator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Page 6</a:t>
            </a:r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82BAAF41-EE78-B5BE-6329-ED49F314FF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223" y="590488"/>
            <a:ext cx="2199159" cy="40563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818077" y="847627"/>
            <a:ext cx="3856881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C3F42"/>
                </a:solidFill>
                <a:latin typeface="Cambria" panose="02040503050406030204" pitchFamily="18" charset="0"/>
                <a:ea typeface="Cambria" panose="02040503050406030204" pitchFamily="18" charset="0"/>
                <a:cs typeface="Bitter Medium" pitchFamily="34" charset="-120"/>
              </a:rPr>
              <a:t>Scientific Calculator Features</a:t>
            </a:r>
            <a:endParaRPr lang="en-US" sz="28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758580" y="1556567"/>
            <a:ext cx="4770016" cy="2094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Trigonometric functions: sin, cos, tan, with rad/deg toggle.</a:t>
            </a:r>
            <a:endParaRPr lang="en-US" sz="16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Logarithmic functions: log (base 10), ln.</a:t>
            </a:r>
            <a:endParaRPr lang="en-US" sz="16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Advanced operations: x^y, factorial, reciprocal (1/x), and π and e constants.</a:t>
            </a:r>
            <a:endParaRPr lang="en-US" sz="16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Floating-point handling and input validation for robust results.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818077" y="3820513"/>
            <a:ext cx="4770016" cy="629245"/>
          </a:xfrm>
          <a:prstGeom prst="roundRect">
            <a:avLst>
              <a:gd name="adj" fmla="val 8280"/>
            </a:avLst>
          </a:prstGeom>
          <a:solidFill>
            <a:srgbClr val="B6D6FC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2051" y="3964025"/>
            <a:ext cx="155004" cy="1239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21029" y="3908066"/>
            <a:ext cx="4243090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Mode toggle (rad/deg) and a memory-friendly layout support academic test problems and quick formula verification.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9" name="Flowchart: Terminator 8">
            <a:extLst>
              <a:ext uri="{FF2B5EF4-FFF2-40B4-BE49-F238E27FC236}">
                <a16:creationId xmlns:a16="http://schemas.microsoft.com/office/drawing/2014/main" id="{77645273-124A-0E9A-AC5A-06F8C7420CBD}"/>
              </a:ext>
            </a:extLst>
          </p:cNvPr>
          <p:cNvSpPr/>
          <p:nvPr/>
        </p:nvSpPr>
        <p:spPr>
          <a:xfrm>
            <a:off x="8059614" y="4859214"/>
            <a:ext cx="1019908" cy="222739"/>
          </a:xfrm>
          <a:prstGeom prst="flowChartTerminator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Page 7</a:t>
            </a:r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3DD0DBA0-D6D2-ED3B-C4FF-6B7027D11C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602" y="543595"/>
            <a:ext cx="2154138" cy="40562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24646" y="848865"/>
            <a:ext cx="3232621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800" b="1" dirty="0">
                <a:solidFill>
                  <a:srgbClr val="2C3F4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Unit Converter Features</a:t>
            </a:r>
          </a:p>
        </p:txBody>
      </p:sp>
      <p:sp>
        <p:nvSpPr>
          <p:cNvPr id="4" name="Text 1"/>
          <p:cNvSpPr/>
          <p:nvPr/>
        </p:nvSpPr>
        <p:spPr>
          <a:xfrm>
            <a:off x="3681046" y="1548706"/>
            <a:ext cx="4770016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Comprehensive, JSON-driven unit tables enable accurate conversions across common categories:</a:t>
            </a:r>
          </a:p>
        </p:txBody>
      </p:sp>
      <p:sp>
        <p:nvSpPr>
          <p:cNvPr id="5" name="Text 2"/>
          <p:cNvSpPr/>
          <p:nvPr/>
        </p:nvSpPr>
        <p:spPr>
          <a:xfrm>
            <a:off x="3741877" y="2375103"/>
            <a:ext cx="4971524" cy="923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Length, area, volume</a:t>
            </a:r>
            <a:endParaRPr lang="en-US" sz="16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Weight, temperature</a:t>
            </a:r>
            <a:endParaRPr lang="en-US" sz="16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Speed, pressure, power</a:t>
            </a:r>
            <a:endParaRPr lang="en-US" sz="16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Number system conversions (binary/decimal/hex)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3681046" y="3917167"/>
            <a:ext cx="4770016" cy="629245"/>
          </a:xfrm>
          <a:prstGeom prst="roundRect">
            <a:avLst>
              <a:gd name="adj" fmla="val 8280"/>
            </a:avLst>
          </a:prstGeom>
          <a:solidFill>
            <a:srgbClr val="B6FCB8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5020" y="4101714"/>
            <a:ext cx="155004" cy="12397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83998" y="4045755"/>
            <a:ext cx="4243090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Extensible: add or update units by editing JSON; conversion functions normalize via base units for consistency.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10" name="Flowchart: Terminator 9">
            <a:extLst>
              <a:ext uri="{FF2B5EF4-FFF2-40B4-BE49-F238E27FC236}">
                <a16:creationId xmlns:a16="http://schemas.microsoft.com/office/drawing/2014/main" id="{54C77ABF-EA62-41A9-74BD-8DDCE8833CB0}"/>
              </a:ext>
            </a:extLst>
          </p:cNvPr>
          <p:cNvSpPr/>
          <p:nvPr/>
        </p:nvSpPr>
        <p:spPr>
          <a:xfrm>
            <a:off x="8059614" y="4859214"/>
            <a:ext cx="1019908" cy="222739"/>
          </a:xfrm>
          <a:prstGeom prst="flowChartTerminator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Page 8</a:t>
            </a:r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5646EE44-EEFD-0F7A-B88C-027CB29794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916" y="649103"/>
            <a:ext cx="2156743" cy="4056236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54885" y="118528"/>
            <a:ext cx="32925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C3F4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Demo &amp; Results</a:t>
            </a:r>
          </a:p>
        </p:txBody>
      </p:sp>
      <p:sp>
        <p:nvSpPr>
          <p:cNvPr id="4" name="Text 1"/>
          <p:cNvSpPr/>
          <p:nvPr/>
        </p:nvSpPr>
        <p:spPr>
          <a:xfrm>
            <a:off x="354885" y="573459"/>
            <a:ext cx="478512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6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Live demo highlights real-time calculations,</a:t>
            </a:r>
          </a:p>
          <a:p>
            <a:pPr>
              <a:lnSpc>
                <a:spcPct val="133000"/>
              </a:lnSpc>
            </a:pPr>
            <a:r>
              <a:rPr lang="en-US" sz="16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accurate scientific operations, and fast unit</a:t>
            </a:r>
          </a:p>
          <a:p>
            <a:pPr>
              <a:lnSpc>
                <a:spcPct val="133000"/>
              </a:lnSpc>
            </a:pPr>
            <a:r>
              <a:rPr lang="en-US" sz="16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conversions across all modules.</a:t>
            </a:r>
            <a:endParaRPr lang="en-US" sz="1600" dirty="0">
              <a:latin typeface="Aptos" panose="020B0004020202020204" pitchFamily="3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619" y="2501652"/>
            <a:ext cx="191319" cy="191319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81101" y="2501652"/>
            <a:ext cx="191319" cy="191319"/>
          </a:xfrm>
          <a:prstGeom prst="rect">
            <a:avLst/>
          </a:prstGeom>
        </p:spPr>
      </p:pic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02584" y="2501652"/>
            <a:ext cx="191319" cy="191319"/>
          </a:xfrm>
          <a:prstGeom prst="rect">
            <a:avLst/>
          </a:prstGeom>
        </p:spPr>
      </p:pic>
      <p:sp>
        <p:nvSpPr>
          <p:cNvPr id="22" name="Flowchart: Terminator 21">
            <a:extLst>
              <a:ext uri="{FF2B5EF4-FFF2-40B4-BE49-F238E27FC236}">
                <a16:creationId xmlns:a16="http://schemas.microsoft.com/office/drawing/2014/main" id="{D4BF5545-E36E-BE1E-086E-C9B4BF742B88}"/>
              </a:ext>
            </a:extLst>
          </p:cNvPr>
          <p:cNvSpPr/>
          <p:nvPr/>
        </p:nvSpPr>
        <p:spPr>
          <a:xfrm>
            <a:off x="8059614" y="4859214"/>
            <a:ext cx="1019908" cy="222739"/>
          </a:xfrm>
          <a:prstGeom prst="flowChartTerminator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Page 9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A075347-E0DD-4DE4-A049-CD2CD657CE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425" y="3845776"/>
            <a:ext cx="1019908" cy="101990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0D91A47-0C07-0C47-48F1-85733D4A1A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425" y="2176871"/>
            <a:ext cx="1019908" cy="101990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6FFB0B4-4F9D-F47D-05CB-F068B5363A0A}"/>
              </a:ext>
            </a:extLst>
          </p:cNvPr>
          <p:cNvSpPr txBox="1"/>
          <p:nvPr/>
        </p:nvSpPr>
        <p:spPr>
          <a:xfrm>
            <a:off x="354885" y="3236438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C3F4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💻 Project Source Code</a:t>
            </a:r>
          </a:p>
          <a:p>
            <a:r>
              <a:rPr lang="en-US" b="1" dirty="0">
                <a:solidFill>
                  <a:srgbClr val="2C3F4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Scan to Access Repository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26EB9E-FDAB-A7A4-184C-87714E43DDE2}"/>
              </a:ext>
            </a:extLst>
          </p:cNvPr>
          <p:cNvSpPr txBox="1"/>
          <p:nvPr/>
        </p:nvSpPr>
        <p:spPr>
          <a:xfrm>
            <a:off x="286420" y="1557835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C3F4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🎥 Project Demo Video</a:t>
            </a:r>
          </a:p>
          <a:p>
            <a:r>
              <a:rPr lang="en-US" b="1" dirty="0">
                <a:solidFill>
                  <a:srgbClr val="2C3F4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Scan to Watch Demo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72E1154-8D58-B145-9D19-5E10656E43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9557" y="2648870"/>
            <a:ext cx="4785126" cy="246779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778D93A-7421-AB50-43C8-CDC2DA32067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9557" y="26831"/>
            <a:ext cx="4785126" cy="25449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7165" y="361449"/>
            <a:ext cx="3990380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800" b="1" dirty="0">
                <a:solidFill>
                  <a:srgbClr val="2C3F4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Conclusion &amp; Future Scope</a:t>
            </a:r>
          </a:p>
        </p:txBody>
      </p:sp>
      <p:sp>
        <p:nvSpPr>
          <p:cNvPr id="3" name="Text 1"/>
          <p:cNvSpPr/>
          <p:nvPr/>
        </p:nvSpPr>
        <p:spPr>
          <a:xfrm>
            <a:off x="417805" y="843723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Project achievements: integrated three calculators into a single, maintainable desktop app that demonstrates Python proficiency and thoughtful UX. Skills demonstrated include OOP design, GUI development, and data-driven configuration.</a:t>
            </a: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376457"/>
            <a:ext cx="2622724" cy="19361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16489" y="1490546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74859" y="1980479"/>
            <a:ext cx="217155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Cambria" panose="02040503050406030204" pitchFamily="18" charset="0"/>
                <a:ea typeface="Cambria" panose="02040503050406030204" pitchFamily="18" charset="0"/>
                <a:cs typeface="Bitter Medium" pitchFamily="34" charset="-120"/>
              </a:rPr>
              <a:t>1. Improve UI/Accessibility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56927" y="2281041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Keyboard-first navigation, higher-contrast modes, and localization support.</a:t>
            </a:r>
            <a:endParaRPr lang="en-US" sz="1200" dirty="0">
              <a:latin typeface="Aptos" panose="020B0004020202020204" pitchFamily="34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9651" y="1376457"/>
            <a:ext cx="2622724" cy="193617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05883" y="1482794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340805" y="1943417"/>
            <a:ext cx="260367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Cambria" panose="02040503050406030204" pitchFamily="18" charset="0"/>
                <a:ea typeface="Cambria" panose="02040503050406030204" pitchFamily="18" charset="0"/>
                <a:cs typeface="Bitter Medium" pitchFamily="34" charset="-120"/>
              </a:rPr>
              <a:t>2. Add Persistence &amp; Settings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440460" y="2249929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Save user preferences, history, and favorite conversions using JSON or SQLite.</a:t>
            </a:r>
            <a:endParaRPr lang="en-US" sz="1200" dirty="0">
              <a:latin typeface="Aptos" panose="020B0004020202020204" pitchFamily="34" charset="0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44133" y="1376457"/>
            <a:ext cx="2622724" cy="193617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70366" y="1482794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140460" y="1943417"/>
            <a:ext cx="22138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Cambria" panose="02040503050406030204" pitchFamily="18" charset="0"/>
                <a:ea typeface="Cambria" panose="02040503050406030204" pitchFamily="18" charset="0"/>
                <a:cs typeface="Bitter Medium" pitchFamily="34" charset="-120"/>
              </a:rPr>
              <a:t>3. Packaging &amp; Distribution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6204942" y="2249929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Build installers (PyInstaller) for Windows/macOS and add CI to publish releases.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515094" y="3426725"/>
            <a:ext cx="8151763" cy="940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>
              <a:lnSpc>
                <a:spcPct val="133000"/>
              </a:lnSpc>
            </a:pPr>
            <a:r>
              <a:rPr lang="en-US" sz="1100" b="1" dirty="0">
                <a:solidFill>
                  <a:srgbClr val="2B2E3C"/>
                </a:solidFill>
                <a:latin typeface="Cambria" panose="02040503050406030204" pitchFamily="18" charset="0"/>
                <a:ea typeface="Cambria" panose="02040503050406030204" pitchFamily="18" charset="0"/>
                <a:cs typeface="Open Sans" pitchFamily="34" charset="-120"/>
              </a:rPr>
              <a:t>Contact Information  </a:t>
            </a:r>
            <a:r>
              <a:rPr lang="en-US" sz="11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 </a:t>
            </a:r>
            <a:r>
              <a:rPr lang="en-US" sz="11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Sarthak Sandhan</a:t>
            </a:r>
          </a:p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  	                   SY- Computer Science Engineering (Diploma) </a:t>
            </a:r>
            <a:r>
              <a:rPr lang="en-US" sz="1100" dirty="0" err="1">
                <a:solidFill>
                  <a:srgbClr val="2B2E3C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B.tech</a:t>
            </a:r>
            <a:endParaRPr lang="en-US" sz="1100" dirty="0">
              <a:solidFill>
                <a:srgbClr val="2B2E3C"/>
              </a:solidFill>
              <a:latin typeface="Aptos" panose="020B0004020202020204" pitchFamily="34" charset="0"/>
              <a:ea typeface="Open Sans" pitchFamily="34" charset="-122"/>
              <a:cs typeface="Open Sans" pitchFamily="34" charset="-120"/>
            </a:endParaRPr>
          </a:p>
          <a:p>
            <a:pPr>
              <a:lnSpc>
                <a:spcPct val="133000"/>
              </a:lnSpc>
            </a:pPr>
            <a:r>
              <a:rPr lang="en-US" sz="1100" b="1" dirty="0">
                <a:solidFill>
                  <a:srgbClr val="2B2E3C"/>
                </a:solidFill>
                <a:latin typeface="Cambria" panose="02040503050406030204" pitchFamily="18" charset="0"/>
                <a:ea typeface="Cambria" panose="02040503050406030204" pitchFamily="18" charset="0"/>
                <a:cs typeface="Open Sans" pitchFamily="34" charset="-120"/>
              </a:rPr>
              <a:t>LinkedIn Profile :   </a:t>
            </a:r>
            <a:r>
              <a:rPr lang="en-US" sz="1100" dirty="0"/>
              <a:t>https://www.linkedin.com/in/sarthak-sandhan-19b174378/</a:t>
            </a:r>
            <a:br>
              <a:rPr lang="en-US" sz="1100" dirty="0"/>
            </a:br>
            <a:br>
              <a:rPr lang="en-US" sz="1100" dirty="0"/>
            </a:br>
            <a:endParaRPr lang="en-US" sz="1100" dirty="0">
              <a:solidFill>
                <a:srgbClr val="2B2E3C"/>
              </a:solidFill>
              <a:latin typeface="Aptos" panose="020B0004020202020204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18" name="Flowchart: Terminator 17">
            <a:extLst>
              <a:ext uri="{FF2B5EF4-FFF2-40B4-BE49-F238E27FC236}">
                <a16:creationId xmlns:a16="http://schemas.microsoft.com/office/drawing/2014/main" id="{0F4F820B-F038-C21C-7122-D9D47DD9C862}"/>
              </a:ext>
            </a:extLst>
          </p:cNvPr>
          <p:cNvSpPr/>
          <p:nvPr/>
        </p:nvSpPr>
        <p:spPr>
          <a:xfrm>
            <a:off x="8059614" y="4859214"/>
            <a:ext cx="1019908" cy="222739"/>
          </a:xfrm>
          <a:prstGeom prst="flowChartTerminator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Page 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17A775-AD36-B598-CADB-69519E8F2195}"/>
              </a:ext>
            </a:extLst>
          </p:cNvPr>
          <p:cNvSpPr txBox="1"/>
          <p:nvPr/>
        </p:nvSpPr>
        <p:spPr>
          <a:xfrm>
            <a:off x="3097819" y="4157769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Thank You</a:t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296</TotalTime>
  <Words>708</Words>
  <Application>Microsoft Office PowerPoint</Application>
  <PresentationFormat>On-screen Show (16:9)</PresentationFormat>
  <Paragraphs>114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Open Sans</vt:lpstr>
      <vt:lpstr>Cambria</vt:lpstr>
      <vt:lpstr>Bitter Medium</vt:lpstr>
      <vt:lpstr>Georgia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Sarthak Sandhan</dc:creator>
  <cp:lastModifiedBy>Sarthak Sandhan</cp:lastModifiedBy>
  <cp:revision>4</cp:revision>
  <dcterms:created xsi:type="dcterms:W3CDTF">2026-06-19T04:27:17Z</dcterms:created>
  <dcterms:modified xsi:type="dcterms:W3CDTF">2026-06-19T09:25:33Z</dcterms:modified>
</cp:coreProperties>
</file>